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4"/>
    <p:sldMasterId id="2147483818" r:id="rId5"/>
  </p:sldMasterIdLst>
  <p:notesMasterIdLst>
    <p:notesMasterId r:id="rId26"/>
  </p:notesMasterIdLst>
  <p:handoutMasterIdLst>
    <p:handoutMasterId r:id="rId27"/>
  </p:handoutMasterIdLst>
  <p:sldIdLst>
    <p:sldId id="310" r:id="rId6"/>
    <p:sldId id="311" r:id="rId7"/>
    <p:sldId id="276" r:id="rId8"/>
    <p:sldId id="277" r:id="rId9"/>
    <p:sldId id="278" r:id="rId10"/>
    <p:sldId id="281" r:id="rId11"/>
    <p:sldId id="283" r:id="rId12"/>
    <p:sldId id="308" r:id="rId13"/>
    <p:sldId id="309" r:id="rId14"/>
    <p:sldId id="314" r:id="rId15"/>
    <p:sldId id="321" r:id="rId16"/>
    <p:sldId id="322" r:id="rId17"/>
    <p:sldId id="313" r:id="rId18"/>
    <p:sldId id="315" r:id="rId19"/>
    <p:sldId id="316" r:id="rId20"/>
    <p:sldId id="317" r:id="rId21"/>
    <p:sldId id="318" r:id="rId22"/>
    <p:sldId id="319" r:id="rId23"/>
    <p:sldId id="312" r:id="rId24"/>
    <p:sldId id="30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4/10/2026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4/10/2026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3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20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76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05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1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6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02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56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1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80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05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8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0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61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74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93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5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18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14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24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16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676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US" sz="4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Gujarat Technological University</a:t>
            </a:r>
          </a:p>
          <a:p>
            <a:pPr lvl="0" algn="ctr"/>
            <a:endParaRPr lang="en-US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NEW L. J. INSTITUTE OF ENGINEERING AND TECHNOLOGY</a:t>
            </a:r>
            <a:endParaRPr lang="en-IN" sz="3200" dirty="0">
              <a:effectLst/>
              <a:latin typeface="Times New Roman" panose="02020603050405020304" pitchFamily="18" charset="0"/>
              <a:ea typeface="Batang" panose="020B0503020000020004" pitchFamily="18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7920" y="3584452"/>
            <a:ext cx="99381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400" b="1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M R 17"/>
              </a:rPr>
              <a:t>Codeverse</a:t>
            </a:r>
            <a:endParaRPr lang="en-IN" sz="4400" dirty="0">
              <a:solidFill>
                <a:srgbClr val="002060"/>
              </a:solidFill>
              <a:effectLst/>
              <a:latin typeface="CM R 17"/>
              <a:ea typeface="Times New Roman" panose="02020603050405020304" pitchFamily="18" charset="0"/>
              <a:cs typeface="CM R 1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885045"/>
            <a:ext cx="38250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HOD NAME: 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Gayatri Pandi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CSE(AIML)&amp;IT, 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LJIET.</a:t>
            </a:r>
          </a:p>
        </p:txBody>
      </p:sp>
      <p:sp>
        <p:nvSpPr>
          <p:cNvPr id="2" name="Rectangle 1"/>
          <p:cNvSpPr/>
          <p:nvPr/>
        </p:nvSpPr>
        <p:spPr>
          <a:xfrm>
            <a:off x="2" y="6424720"/>
            <a:ext cx="12191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Batang"/>
              </a:rPr>
              <a:t>SEMESTER:                                                  					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A9BD2-1F6D-F707-6A0F-77BCC4BD5D88}"/>
              </a:ext>
            </a:extLst>
          </p:cNvPr>
          <p:cNvSpPr txBox="1"/>
          <p:nvPr/>
        </p:nvSpPr>
        <p:spPr>
          <a:xfrm>
            <a:off x="3" y="2274369"/>
            <a:ext cx="12191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CSE(AIML), CSE OR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57DFD-2E66-2ACF-16AF-2B39B57AFDBC}"/>
              </a:ext>
            </a:extLst>
          </p:cNvPr>
          <p:cNvSpPr txBox="1"/>
          <p:nvPr/>
        </p:nvSpPr>
        <p:spPr>
          <a:xfrm>
            <a:off x="13023" y="2755373"/>
            <a:ext cx="12191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– 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2C9C46-3607-33BE-6495-46BF710E5D5E}"/>
              </a:ext>
            </a:extLst>
          </p:cNvPr>
          <p:cNvSpPr txBox="1"/>
          <p:nvPr/>
        </p:nvSpPr>
        <p:spPr>
          <a:xfrm>
            <a:off x="13011" y="3213879"/>
            <a:ext cx="12192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 (3180701)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2AA52D-9E2E-871D-2C45-E6EEF727524C}"/>
              </a:ext>
            </a:extLst>
          </p:cNvPr>
          <p:cNvSpPr/>
          <p:nvPr/>
        </p:nvSpPr>
        <p:spPr>
          <a:xfrm>
            <a:off x="8214576" y="4585857"/>
            <a:ext cx="38250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BY,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Akbari Nihar </a:t>
            </a:r>
            <a:r>
              <a:rPr lang="en-US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Brijeshbhai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NUMBER: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221430142001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97612D-A4C6-D4A1-DE92-30D90DF3F867}"/>
              </a:ext>
            </a:extLst>
          </p:cNvPr>
          <p:cNvSpPr/>
          <p:nvPr/>
        </p:nvSpPr>
        <p:spPr>
          <a:xfrm>
            <a:off x="4107288" y="4893634"/>
            <a:ext cx="38250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Neha Pujara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B8B4B4-2CE6-529C-BFB1-947BA658E1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4" b="11188"/>
          <a:stretch/>
        </p:blipFill>
        <p:spPr bwMode="auto">
          <a:xfrm>
            <a:off x="10168068" y="88620"/>
            <a:ext cx="1816100" cy="15049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395968-01F0-9734-73FF-FE74115AC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5" y="5926"/>
            <a:ext cx="1704189" cy="172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9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4431" y="745134"/>
            <a:ext cx="10047310" cy="56271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4432" y="1757680"/>
            <a:ext cx="10047310" cy="456184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IN EXISTING SYSTEM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REQUIREMENTS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	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 AND BACK END OF SYSTEM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DATA DICTIONARY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SNAPSHOT OF WEBSITE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FUTURE ENHANCEMENT 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91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11231"/>
            <a:ext cx="10031505" cy="562712"/>
          </a:xfrm>
        </p:spPr>
        <p:txBody>
          <a:bodyPr>
            <a:noAutofit/>
          </a:bodyPr>
          <a:lstStyle/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7794"/>
            <a:ext cx="10031505" cy="44054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</a:t>
            </a:r>
            <a:r>
              <a:rPr lang="en-US" b="1" dirty="0" err="1"/>
              <a:t>CodeVerse</a:t>
            </a:r>
            <a:r>
              <a:rPr lang="en-US" b="1" dirty="0"/>
              <a:t> Online Hackathon </a:t>
            </a:r>
            <a:r>
              <a:rPr lang="en-US" dirty="0"/>
              <a:t>Platform is a </a:t>
            </a:r>
            <a:r>
              <a:rPr lang="en-US" b="1" dirty="0"/>
              <a:t>web-based system </a:t>
            </a:r>
            <a:r>
              <a:rPr lang="en-US" dirty="0"/>
              <a:t>for conducting hackathons on a </a:t>
            </a:r>
            <a:r>
              <a:rPr lang="en-US" b="1" dirty="0"/>
              <a:t>centralized platform</a:t>
            </a:r>
            <a:r>
              <a:rPr lang="en-US" dirty="0"/>
              <a:t>. It allows organizations to create events, and participants to </a:t>
            </a:r>
            <a:r>
              <a:rPr lang="en-US" b="1" dirty="0"/>
              <a:t>register, form teams, and submit projects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Organizers manage </a:t>
            </a:r>
            <a:r>
              <a:rPr lang="en-US" b="1" dirty="0"/>
              <a:t>problem statements</a:t>
            </a:r>
            <a:r>
              <a:rPr lang="en-US" dirty="0"/>
              <a:t>, </a:t>
            </a:r>
            <a:r>
              <a:rPr lang="en-US" b="1" dirty="0"/>
              <a:t>rules</a:t>
            </a:r>
            <a:r>
              <a:rPr lang="en-US" dirty="0"/>
              <a:t>, and </a:t>
            </a:r>
            <a:r>
              <a:rPr lang="en-US" b="1" dirty="0"/>
              <a:t>timelines</a:t>
            </a:r>
            <a:r>
              <a:rPr lang="en-US" dirty="0"/>
              <a:t>, and to ensure fair results. Participants can track their progress, scores, and rankings in real time.</a:t>
            </a:r>
            <a:r>
              <a:rPr lang="en-US" b="1" dirty="0"/>
              <a:t> judges evaluate submissions </a:t>
            </a:r>
            <a:r>
              <a:rPr lang="en-US" dirty="0"/>
              <a:t>to ensure </a:t>
            </a:r>
            <a:r>
              <a:rPr lang="en-US" b="1" dirty="0"/>
              <a:t>fair results</a:t>
            </a:r>
            <a:r>
              <a:rPr lang="en-US" dirty="0"/>
              <a:t>. Participants can </a:t>
            </a:r>
            <a:r>
              <a:rPr lang="en-US" b="1" dirty="0"/>
              <a:t>track their progress, scores, and rankings</a:t>
            </a:r>
            <a:r>
              <a:rPr lang="en-US" dirty="0"/>
              <a:t> in real time.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platform </a:t>
            </a:r>
            <a:r>
              <a:rPr lang="en-US" b="1" dirty="0"/>
              <a:t>automates the entire hackathon process</a:t>
            </a:r>
            <a:r>
              <a:rPr lang="en-US" dirty="0"/>
              <a:t>, reduces manual work, and promotes innovation, collaboration, and competitive learning.</a:t>
            </a:r>
          </a:p>
        </p:txBody>
      </p:sp>
    </p:spTree>
    <p:extLst>
      <p:ext uri="{BB962C8B-B14F-4D97-AF65-F5344CB8AC3E}">
        <p14:creationId xmlns:p14="http://schemas.microsoft.com/office/powerpoint/2010/main" val="54012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0237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PROBLEMS IN EXISTING SYSTEM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0236" y="1893433"/>
            <a:ext cx="9977718" cy="437029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Hackathons managed manually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Difficult participant coordination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No centralized submission system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Unstructured judging process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Lack of transparency in results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Communication gaps during events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6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83341" y="624110"/>
            <a:ext cx="10192871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PURPOSE OF THE PROJECT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9429C4B4-65C8-DE69-0DA3-BC6A84A72200}"/>
              </a:ext>
            </a:extLst>
          </p:cNvPr>
          <p:cNvSpPr txBox="1">
            <a:spLocks/>
          </p:cNvSpPr>
          <p:nvPr/>
        </p:nvSpPr>
        <p:spPr>
          <a:xfrm>
            <a:off x="1183341" y="1863595"/>
            <a:ext cx="9977718" cy="437029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Create centralized hackathon platform</a:t>
            </a:r>
            <a:endParaRPr lang="en-US" b="1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Simplify registration &amp; team formation</a:t>
            </a:r>
            <a:endParaRPr lang="en-US" b="1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Manage submissions digitally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Ensure fair evaluation process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Promote innovation &amp; collaboration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38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96963" y="746449"/>
            <a:ext cx="10058400" cy="486423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5A3B76B-2817-2F8C-AFFE-D7BAF3E73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4317" y="1951976"/>
            <a:ext cx="9961045" cy="38113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/>
              <a:t>User registration and login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Hackathon creation &amp; management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Team formation system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Problem statement upload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Project submission module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Judge scoring &amp; feedback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Leaderboard &amp; results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Notifications &amp; updates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544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SYSTEM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BE041E-892C-F0B0-F101-6F5615461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0193" y="1872163"/>
            <a:ext cx="4168127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Admin Module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Create &amp; manage hackathons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Approve organizers &amp; Judges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platform activity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Generate Reports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Manage System settings</a:t>
            </a:r>
          </a:p>
          <a:p>
            <a:pPr marL="20116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Participant Module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Register for hackathons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Form or join teams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View problem statements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Submit projects/solutions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results and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54D8F08-7955-B481-2178-D20684AC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81" y="1872163"/>
            <a:ext cx="416812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Organizer Module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Create hackathon events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Define rules &amp; timelines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Upload problem statements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Assign judges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Track participant progress</a:t>
            </a:r>
          </a:p>
          <a:p>
            <a:pPr marL="20116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Calibri" pitchFamily="34" charset="0"/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Judge Module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Review project submissions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Evaluate using criteria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Provide scores &amp; feedback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IN" dirty="0"/>
              <a:t>Ensure fair assessment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5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SYSTEM REQUIREMENTS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Hardware Requirements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Processor: Intel i3 or higher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RAM: Minimum 4 GB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Storage: 50 GB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Software Requirements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Operating System: Windows / Linux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Programming Language: </a:t>
            </a:r>
            <a:r>
              <a:rPr lang="en-IN" b="1" dirty="0"/>
              <a:t>Java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Framework: </a:t>
            </a:r>
            <a:r>
              <a:rPr lang="en-IN" b="1" dirty="0"/>
              <a:t>Spring Boot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Database: </a:t>
            </a:r>
            <a:r>
              <a:rPr lang="en-IN" b="1" dirty="0"/>
              <a:t>MySQL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Web Browser: Chrome / Edge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Version Control: Git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38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FRONT END AND BACK END OF SYSTEM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Frontend Technologies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HTML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JavaScript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Bootstrap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Backend Technologies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Spring Boot (Java Web Framework)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Hibernate (JPA – ORM Tool)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MySQL (Database)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B872-D183-378D-3C2D-AF9D696D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C41D6EE-7256-1BCF-827A-3CAB51C0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8. DATA DICTIONARY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D4EB77-DD88-7C27-453B-D41A54EE51CB}"/>
              </a:ext>
            </a:extLst>
          </p:cNvPr>
          <p:cNvSpPr txBox="1"/>
          <p:nvPr/>
        </p:nvSpPr>
        <p:spPr>
          <a:xfrm>
            <a:off x="1125071" y="1669925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user_types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FD4E79-18CE-0DC7-F4BF-214A97715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508551"/>
              </p:ext>
            </p:extLst>
          </p:nvPr>
        </p:nvGraphicFramePr>
        <p:xfrm>
          <a:off x="1125071" y="2180498"/>
          <a:ext cx="9941858" cy="4053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6951">
                  <a:extLst>
                    <a:ext uri="{9D8B030D-6E8A-4147-A177-3AD203B41FA5}">
                      <a16:colId xmlns:a16="http://schemas.microsoft.com/office/drawing/2014/main" val="3790119521"/>
                    </a:ext>
                  </a:extLst>
                </a:gridCol>
                <a:gridCol w="2198044">
                  <a:extLst>
                    <a:ext uri="{9D8B030D-6E8A-4147-A177-3AD203B41FA5}">
                      <a16:colId xmlns:a16="http://schemas.microsoft.com/office/drawing/2014/main" val="296737022"/>
                    </a:ext>
                  </a:extLst>
                </a:gridCol>
                <a:gridCol w="2350553">
                  <a:extLst>
                    <a:ext uri="{9D8B030D-6E8A-4147-A177-3AD203B41FA5}">
                      <a16:colId xmlns:a16="http://schemas.microsoft.com/office/drawing/2014/main" val="1552855974"/>
                    </a:ext>
                  </a:extLst>
                </a:gridCol>
                <a:gridCol w="3036310">
                  <a:extLst>
                    <a:ext uri="{9D8B030D-6E8A-4147-A177-3AD203B41FA5}">
                      <a16:colId xmlns:a16="http://schemas.microsoft.com/office/drawing/2014/main" val="2000702529"/>
                    </a:ext>
                  </a:extLst>
                </a:gridCol>
              </a:tblGrid>
              <a:tr h="4518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dirty="0">
                          <a:effectLst/>
                        </a:rPr>
                        <a:t>Field Name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Data type</a:t>
                      </a:r>
                      <a:endParaRPr lang="en-IN" sz="9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(size)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Constraint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indent="4572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dirty="0">
                          <a:effectLst/>
                        </a:rPr>
                        <a:t>Description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2529468661"/>
                  </a:ext>
                </a:extLst>
              </a:tr>
              <a:tr h="3444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user_id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BIGINT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Primary key, Auto Increment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Stores the unique identifier of the user.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3877574083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first_name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Varchar(100)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Not Null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User’s first name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1555303024"/>
                  </a:ext>
                </a:extLst>
              </a:tr>
              <a:tr h="2744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last_name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Varchar(100)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Not Null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User’s last name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384045167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email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Varchar(150)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Not Null, Unique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User’s email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737669478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password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Varchar(255)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Not Null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Encrypted password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4152337980"/>
                  </a:ext>
                </a:extLst>
              </a:tr>
              <a:tr h="451898"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role </a:t>
                      </a:r>
                      <a:endParaRPr lang="en-IN" sz="9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dirty="0">
                          <a:effectLst/>
                        </a:rPr>
                        <a:t>VARCHAR(30)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NOT NULL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Role label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2012202998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profile_pic_url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VARCHAR(500)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NULL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Profile  image url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2174766228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active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BOOLEAN 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NOT NULL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Account Status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3315817735"/>
                  </a:ext>
                </a:extLst>
              </a:tr>
              <a:tr h="6297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otp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VARCHAR(10)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NULL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000">
                          <a:effectLst/>
                        </a:rPr>
                        <a:t>OTP for password reset</a:t>
                      </a:r>
                      <a:endParaRPr lang="en-IN" sz="9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2011588466"/>
                  </a:ext>
                </a:extLst>
              </a:tr>
              <a:tr h="52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user_type_id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BIGINT 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FK -&gt; user_types.user_type_id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Role reference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8" marR="57998" marT="0" marB="0"/>
                </a:tc>
                <a:extLst>
                  <a:ext uri="{0D108BD9-81ED-4DB2-BD59-A6C34878D82A}">
                    <a16:rowId xmlns:a16="http://schemas.microsoft.com/office/drawing/2014/main" val="161472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37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4814-81AF-5B5C-B65F-FD0D58BA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31E993-44D4-22BC-D450-D9A7224B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Cont</a:t>
            </a: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C7A90-8490-DE1B-2325-00DBDC02EFBA}"/>
              </a:ext>
            </a:extLst>
          </p:cNvPr>
          <p:cNvSpPr txBox="1"/>
          <p:nvPr/>
        </p:nvSpPr>
        <p:spPr>
          <a:xfrm>
            <a:off x="1125071" y="166992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hackathons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C1BAC3-BB9E-9CB3-B317-EA10263B6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016033"/>
              </p:ext>
            </p:extLst>
          </p:nvPr>
        </p:nvGraphicFramePr>
        <p:xfrm>
          <a:off x="1125071" y="2178684"/>
          <a:ext cx="9802906" cy="39052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3189">
                  <a:extLst>
                    <a:ext uri="{9D8B030D-6E8A-4147-A177-3AD203B41FA5}">
                      <a16:colId xmlns:a16="http://schemas.microsoft.com/office/drawing/2014/main" val="1355565925"/>
                    </a:ext>
                  </a:extLst>
                </a:gridCol>
                <a:gridCol w="1857564">
                  <a:extLst>
                    <a:ext uri="{9D8B030D-6E8A-4147-A177-3AD203B41FA5}">
                      <a16:colId xmlns:a16="http://schemas.microsoft.com/office/drawing/2014/main" val="3140037879"/>
                    </a:ext>
                  </a:extLst>
                </a:gridCol>
                <a:gridCol w="1531928">
                  <a:extLst>
                    <a:ext uri="{9D8B030D-6E8A-4147-A177-3AD203B41FA5}">
                      <a16:colId xmlns:a16="http://schemas.microsoft.com/office/drawing/2014/main" val="4162941221"/>
                    </a:ext>
                  </a:extLst>
                </a:gridCol>
                <a:gridCol w="4060225">
                  <a:extLst>
                    <a:ext uri="{9D8B030D-6E8A-4147-A177-3AD203B41FA5}">
                      <a16:colId xmlns:a16="http://schemas.microsoft.com/office/drawing/2014/main" val="2520823274"/>
                    </a:ext>
                  </a:extLst>
                </a:gridCol>
              </a:tblGrid>
              <a:tr h="3503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>
                          <a:effectLst/>
                        </a:rPr>
                        <a:t>Field Name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>
                          <a:effectLst/>
                        </a:rPr>
                        <a:t>Data type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>
                          <a:effectLst/>
                        </a:rPr>
                        <a:t>(size)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>
                          <a:effectLst/>
                        </a:rPr>
                        <a:t>Constraint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indent="4572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 dirty="0">
                          <a:effectLst/>
                        </a:rPr>
                        <a:t>Description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4118980715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hackathon_id 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BIGINT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PK, Auto Increment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Unique hackathon 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1978729532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title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VARCHAR(200)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Hackathon Title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1731267346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description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TEXT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Event description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2490645323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status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VARCHAR(30)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UPCOMING/ONGOING/COMPLETED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1669925532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event_type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VARCHAR(30)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ONLINE/OFFLINE/HYBRID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1614753388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payment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VARCHAR(30)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FREE/PAID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4291670073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location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VARCHAR(200)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NULL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Event location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998789523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registration_start_date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Registration start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25497846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registration_end_date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Registration end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1941160319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min_team_size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INT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Minimum team members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2234909901"/>
                  </a:ext>
                </a:extLst>
              </a:tr>
              <a:tr h="2433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max_team_size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INT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IN" sz="700">
                          <a:effectLst/>
                        </a:rPr>
                        <a:t>NOT NULL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Maximum team members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2578318314"/>
                  </a:ext>
                </a:extLst>
              </a:tr>
              <a:tr h="3689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user_id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BIGINT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FK -&gt; users.user_id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>
                          <a:effectLst/>
                        </a:rPr>
                        <a:t>Organizer id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700">
                          <a:effectLst/>
                        </a:rPr>
                        <a:t>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1288370247"/>
                  </a:ext>
                </a:extLst>
              </a:tr>
              <a:tr h="4945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category_id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BIGINT 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381000" algn="l"/>
                        </a:tabLst>
                      </a:pPr>
                      <a:r>
                        <a:rPr lang="en-US" sz="700">
                          <a:effectLst/>
                        </a:rPr>
                        <a:t>FK -&gt; categories.category_id</a:t>
                      </a:r>
                      <a:endParaRPr lang="en-IN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Category id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00" marR="42700" marT="0" marB="0"/>
                </a:tc>
                <a:extLst>
                  <a:ext uri="{0D108BD9-81ED-4DB2-BD59-A6C34878D82A}">
                    <a16:rowId xmlns:a16="http://schemas.microsoft.com/office/drawing/2014/main" val="2096120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97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5FDCF-B3D2-4D2B-7214-57C8A41E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9C77628-95F8-E784-700C-54BD16BB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Cont</a:t>
            </a: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32630-AF2F-356A-017B-59D8FE5AEF8B}"/>
              </a:ext>
            </a:extLst>
          </p:cNvPr>
          <p:cNvSpPr txBox="1"/>
          <p:nvPr/>
        </p:nvSpPr>
        <p:spPr>
          <a:xfrm>
            <a:off x="1125071" y="1669925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user_type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1D6724-F1FE-A754-0A2A-D8371318A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024726"/>
              </p:ext>
            </p:extLst>
          </p:nvPr>
        </p:nvGraphicFramePr>
        <p:xfrm>
          <a:off x="1125071" y="2342965"/>
          <a:ext cx="5928360" cy="1476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905992791"/>
                    </a:ext>
                  </a:extLst>
                </a:gridCol>
                <a:gridCol w="961390">
                  <a:extLst>
                    <a:ext uri="{9D8B030D-6E8A-4147-A177-3AD203B41FA5}">
                      <a16:colId xmlns:a16="http://schemas.microsoft.com/office/drawing/2014/main" val="2150845252"/>
                    </a:ext>
                  </a:extLst>
                </a:gridCol>
                <a:gridCol w="941070">
                  <a:extLst>
                    <a:ext uri="{9D8B030D-6E8A-4147-A177-3AD203B41FA5}">
                      <a16:colId xmlns:a16="http://schemas.microsoft.com/office/drawing/2014/main" val="1738863105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828691820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Field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Data type</a:t>
                      </a:r>
                      <a:endParaRPr lang="en-IN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(size)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Constraint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23714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user_type_id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BIGINT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Primary key, Auto Increment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Unique role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62141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user_type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Varchar(30)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Not Null, Unique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Role  Name </a:t>
                      </a:r>
                      <a:r>
                        <a:rPr lang="en-US" sz="1100" dirty="0">
                          <a:effectLst/>
                        </a:rPr>
                        <a:t>(ADMIN/ORGANIZER/PARTICIPANT/JUDE)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3730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414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0699-230A-A671-E181-48A3D5F7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E6CFF9D-AB11-541C-A15B-3EDB0641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8. </a:t>
            </a:r>
            <a:r>
              <a:rPr lang="en-IN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SNAPSHOTS OF WEBSITE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0DBF50D-6D2A-45EE-0FDE-3D7031919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4460" y="1885950"/>
            <a:ext cx="7882467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5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3B50-C670-B133-DE18-8ABE08D66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FB226A1-B835-4BC9-EE60-93FD74C3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611229-10E7-E806-4F03-B3A8CB135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26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5530-94E0-D398-2AB7-04777996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42F52D4-C7E6-BD6B-ADA7-FBB87434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F8A9E6-3A55-1F8F-8123-3CBCB24FD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85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64C3-C779-6784-3445-A2F9DA54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2CEF7C8-C5A4-3E30-B978-EA4BDA55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E17625-7A08-3174-A92A-706A164A8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71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3FFC-BF9B-793B-B1DA-AF97EFE1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F46794-2657-F955-40B9-B151AE55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55C265-81CA-E1EF-B0CF-C13062E5E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23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E3D4-1C3A-952C-E790-AB6063EA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3B20940-4424-02F0-B85D-7089E145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Cont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…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E95D46-134D-7BD1-FBA7-4B7A06A41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1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B483-3AEA-502A-310C-578E7345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AEC2F49-DF94-10F0-27DA-ACD81EB5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</a:rPr>
              <a:t>10. FUTURE ENHANCEMENT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BD77A8A-B252-0513-6B71-56F38B8D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12" y="2145277"/>
            <a:ext cx="9977718" cy="443481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real-time notifications.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analytics and reports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mobile app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REST APIs for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automated email reminders.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plagiarism checking for submissions.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72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y thank you to someone at Companies House - GOV.U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680" y="2247495"/>
            <a:ext cx="5115672" cy="34104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4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schemas.microsoft.com/office/2006/metadata/properties"/>
    <ds:schemaRef ds:uri="http://www.w3.org/2000/xmlns/"/>
    <ds:schemaRef ds:uri="4873beb7-5857-4685-be1f-d57550cc96cc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873beb7-5857-4685-be1f-d57550cc96c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1119</TotalTime>
  <Words>854</Words>
  <Application>Microsoft Office PowerPoint</Application>
  <PresentationFormat>Widescreen</PresentationFormat>
  <Paragraphs>243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CM R 17</vt:lpstr>
      <vt:lpstr>Euphemia</vt:lpstr>
      <vt:lpstr>Symbol</vt:lpstr>
      <vt:lpstr>Times New Roman</vt:lpstr>
      <vt:lpstr>Wingdings</vt:lpstr>
      <vt:lpstr>Retrospect</vt:lpstr>
      <vt:lpstr>1_Retrospect</vt:lpstr>
      <vt:lpstr>PowerPoint Presentation</vt:lpstr>
      <vt:lpstr>Outline</vt:lpstr>
      <vt:lpstr>ABSTRACT </vt:lpstr>
      <vt:lpstr>2. PROBLEMS IN EXISTING SYSTEM</vt:lpstr>
      <vt:lpstr>3. PURPOSE OF THE PROJECT</vt:lpstr>
      <vt:lpstr>4. FUNCTION REQUIREMENTS</vt:lpstr>
      <vt:lpstr>5. SYSTEM MODULES </vt:lpstr>
      <vt:lpstr>6. SYSTEM REQUIREMENTS</vt:lpstr>
      <vt:lpstr>7. FRONT END AND BACK END OF SYSTEM </vt:lpstr>
      <vt:lpstr>8. DATA DICTIONARY</vt:lpstr>
      <vt:lpstr>Cont…</vt:lpstr>
      <vt:lpstr>Cont…</vt:lpstr>
      <vt:lpstr>8. SNAPSHOTS OF WEBSITE</vt:lpstr>
      <vt:lpstr>Cont…</vt:lpstr>
      <vt:lpstr>Cont…</vt:lpstr>
      <vt:lpstr>Cont…</vt:lpstr>
      <vt:lpstr>Cont…</vt:lpstr>
      <vt:lpstr>Cont…</vt:lpstr>
      <vt:lpstr>10. FUTURE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Nihar Akbari</cp:lastModifiedBy>
  <cp:revision>74</cp:revision>
  <dcterms:created xsi:type="dcterms:W3CDTF">2021-06-09T16:25:43Z</dcterms:created>
  <dcterms:modified xsi:type="dcterms:W3CDTF">2026-04-10T07:22:10Z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